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组合板块权重分布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D7D31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4F81BD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08080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AI算力 47%</c:v>
                </c:pt>
                <c:pt idx="1">
                  <c:v>新能源 25%</c:v>
                </c:pt>
                <c:pt idx="2">
                  <c:v>半导体存储 21%</c:v>
                </c:pt>
                <c:pt idx="3">
                  <c:v>ETF对冲 7%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25</c:v>
                </c:pt>
                <c:pt idx="2">
                  <c:v>21</c:v>
                </c:pt>
                <c:pt idx="3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 i="0">
                <a:solidFill>
                  <a:srgbClr val="1F4E79"/>
                </a:solidFill>
                <a:latin typeface="PingFang SC"/>
                <a:ea typeface="PingFang SC"/>
              </a:rPr>
              <a:t>板块权重 (按个股+ETF口径加权)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D7D31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4F81BD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08080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AI算力 47%</c:v>
                </c:pt>
                <c:pt idx="1">
                  <c:v>新能源 25%</c:v>
                </c:pt>
                <c:pt idx="2">
                  <c:v>半导体存储 21%</c:v>
                </c:pt>
                <c:pt idx="3">
                  <c:v>ETF对冲 7%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25</c:v>
                </c:pt>
                <c:pt idx="2">
                  <c:v>21</c:v>
                </c:pt>
                <c:pt idx="3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/>
                <a:ea typeface="PingFang SC"/>
              </a:rPr>
              <a:t>A股三板块中长期配置策略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C070"/>
                </a:solidFill>
                <a:latin typeface="PingFang SC"/>
                <a:ea typeface="PingFang SC"/>
              </a:rPr>
              <a:t>AI算力  ·  半导体存储  ·  新能源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PingFang SC"/>
                <a:ea typeface="PingFang SC"/>
              </a:rPr>
              <a:t>机构级中长期组合 · 配置视角 6–12 个月</a:t>
            </a:r>
          </a:p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D9A0"/>
                </a:solidFill>
                <a:latin typeface="PingFang SC"/>
                <a:ea typeface="PingFang SC"/>
              </a:rPr>
              <a:t>AI算力为骨 · 存储为肉 · 新能源为对冲与第二增长曲线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ingFang SC"/>
                <a:ea typeface="PingFang SC"/>
              </a:rPr>
              <a:t>发布日期：2026年5月13日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7E4"/>
                </a:solidFill>
                <a:latin typeface="PingFang SC"/>
                <a:ea typeface="PingFang SC"/>
              </a:rPr>
              <a:t>数据基准日：2026/05/12（Tushare）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852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PingFang SC"/>
                <a:ea typeface="PingFang SC"/>
              </a:rPr>
              <a:t>团队：ashare-sectors-2026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172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CBD7E4"/>
                </a:solidFill>
                <a:latin typeface="PingFang SC"/>
                <a:ea typeface="PingFang SC"/>
              </a:rPr>
              <a:t>组合代号：Portfolio Roadshow · 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中长期 6–12 个月视角 · 三句话核心结论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657600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01  确定性最高的β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AI算力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北美CSP 2026年capex指引7,250亿美元(+77%)；海外链订单已锁定全年。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417320"/>
            <a:ext cx="3657600" cy="13258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508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02  弹性最大的α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764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半导体存储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1945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DRAM 2026Q2合约价QoQ+58–63%，NAND +70–75%；A股龙头2026Q1业绩集中爆发。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417320"/>
            <a:ext cx="3657600" cy="13258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508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03  对冲与第二曲线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764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新能源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1945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储能/海风/核电上行；AIDC储能 = 锂电链二次增长；与AI算力低相关性。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11480" y="2971800"/>
          <a:ext cx="47548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5486400" y="2971800"/>
            <a:ext cx="6263640" cy="329184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10896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PingFang SC"/>
                <a:ea typeface="PingFang SC"/>
              </a:rPr>
              <a:t>中长期 6–12 月情景化预期收益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3566160"/>
            <a:ext cx="1097280" cy="7772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3657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中性情形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9502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+18 ~ +25%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30752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AI capex维持、存储2026Q2价格如期、海风招标稳定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4453128"/>
            <a:ext cx="109728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544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乐观情形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83717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+30 ~ +45%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617720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CSP capex超预期 / 1.6T量产 / 长鑫HBM突破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5340096"/>
            <a:ext cx="1097280" cy="7772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5431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悲观情形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572414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−10 ~ −15%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504688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北美CSP拐点 / 存储周期见顶 / 地缘升级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2 /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为什么选这三个板块？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共同主线 + 相对独立 + 相互强化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1554480"/>
            <a:ext cx="301752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E0B0"/>
                </a:solidFill>
                <a:latin typeface="PingFang SC"/>
                <a:ea typeface="PingFang SC"/>
              </a:rPr>
              <a:t>共同主线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AI capex 超级周期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3337560" cy="18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AI算力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全球AI capex直接受益方
北美CSP 2026指引 7,250亿美元 (+77%)
国内字节1,600亿 / 阿里3年3,800亿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108960"/>
            <a:ext cx="3337560" cy="18288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半导体存储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AI驱动型超级周期 中上半场
95%先进产能转HBM/eSSD
挤出效应让利基存储紧缺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108960"/>
            <a:ext cx="3337560" cy="1828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2004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新能源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1188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AIDC储能 = 锂电二次增长
IDC耗电激增 → 绿电匹配
海风/核电独立增长源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423160"/>
            <a:ext cx="36000" cy="685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423160"/>
            <a:ext cx="36000" cy="685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66960" y="2423160"/>
            <a:ext cx="36000" cy="685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11109960" cy="96012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PingFang SC"/>
                <a:ea typeface="PingFang SC"/>
              </a:rPr>
              <a:t>组合分散性核心洞察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PingFang SC"/>
                <a:ea typeface="PingFang SC"/>
              </a:rPr>
              <a:t>AI算力与半导体存储高相关 (β &gt; 1, 同向波动)；新能源 (光伏/核电/绿电) 与AI算力链相关性低，是真正的组合分散来源。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3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AI算力 | 板块概览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全球AI capex超级周期峰年 · 海外链+国产链同步加速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657600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0876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北美CSP 2026 capex指引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6479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7,250亿美元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21992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ingFang SC"/>
                <a:ea typeface="PingFang SC"/>
              </a:rPr>
              <a:t>同比 +77% (2025: 4,100亿)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417320"/>
            <a:ext cx="3657600" cy="1143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50876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国内字节 2026 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76479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1,600亿元人民币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221992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ingFang SC"/>
                <a:ea typeface="PingFang SC"/>
              </a:rPr>
              <a:t>同步加速放量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417320"/>
            <a:ext cx="3657600" cy="1143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508760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阿里 3年合计 capex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76479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3,800亿元人民币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221992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ingFang SC"/>
                <a:ea typeface="PingFang SC"/>
              </a:rPr>
              <a:t>云+AI基础设施投入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788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PingFang SC"/>
                <a:ea typeface="PingFang SC"/>
              </a:rPr>
              <a:t>海外链 vs 国产链对比 — 估值与业绩兑现度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3200400"/>
          <a:ext cx="1136599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049"/>
                <a:gridCol w="4662971"/>
                <a:gridCol w="4662971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海外链 (NV/CSP 订单)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国产链 (替代 + 自主算力)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代表标的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工业富联 / 沪电 / 中际旭创 / 澜起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海光 / 寒武纪 / 中科曙光 / 紫光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2026Q1 业绩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工业富联 净利+102.6% / 沪电 净利+63%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海光 营收+68% / 寒武纪 扭亏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估值 PE_TTM (2026/05/12)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工业富联 31x / 沪电 ~40x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寒武纪 / 海光 ≈ 200–300x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确定性 vs 弹性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订单已锁定全年，确定性高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政策催化弹性高，估值已部分透支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核心风险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北美CSP capex拐点 (2027指引)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H20/H200 政策反复 + 估值容错率低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11480" y="5989320"/>
            <a:ext cx="11365992" cy="45720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PingFang SC"/>
                <a:ea typeface="PingFang SC"/>
              </a:rPr>
              <a:t>结论：海外链 = 主仓位 (确定性β)；国产链 = 卫星仓位 (政策α，严控估值)。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4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半导体存储 | 板块概览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AI驱动型超级周期 · 中上半场 · 2026Q1业绩集中爆发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PingFang SC"/>
                <a:ea typeface="PingFang SC"/>
              </a:rPr>
              <a:t>周期定位：AI驱动型超级周期 中上半场（2026Q4–2027Q1 见顶风险窗口）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11365992" cy="2743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6263640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756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PingFang SC"/>
                <a:ea typeface="PingFang SC"/>
              </a:rPr>
              <a:t>周期启动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756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  <a:latin typeface="PingFang SC"/>
                <a:ea typeface="PingFang SC"/>
              </a:rPr>
              <a:t>▲ 当前位置 (2026Q2)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756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PingFang SC"/>
                <a:ea typeface="PingFang SC"/>
              </a:rPr>
              <a:t>周期峰值 → 见顶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DRAM / NAND 合约价路径 (TrendForce)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310896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85"/>
                <a:gridCol w="1268730"/>
                <a:gridCol w="1268730"/>
                <a:gridCol w="274891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品类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2026Q1 QoQ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2026Q2 QoQ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驱动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DRAM 合约价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+90 ~ +95%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+58 ~ +63%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HBM挤出 + AI服务器拉动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NAND 合约价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+约+50%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+70 ~ +75%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eSSD放量，首次涨幅超DRAM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利基存储 (DDR4/NOR)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全面紧缺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持续涨价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三大厂95%先进产能转向HBM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0" y="2697480"/>
            <a:ext cx="4462272" cy="2240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2026Q1 业绩爆发 (A股龙头)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1546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070"/>
                </a:solidFill>
                <a:latin typeface="PingFang SC"/>
                <a:ea typeface="PingFang SC"/>
              </a:rPr>
              <a:t>佰维存储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净利 28.99亿元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4107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7E4"/>
                </a:solidFill>
                <a:latin typeface="PingFang SC"/>
                <a:ea typeface="PingFang SC"/>
              </a:rPr>
              <a:t>≈ 2025年报全年 8.53亿元 的 3.4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749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070"/>
                </a:solidFill>
                <a:latin typeface="PingFang SC"/>
                <a:ea typeface="PingFang SC"/>
              </a:rPr>
              <a:t>德明利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749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净利 33.46亿元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7E4"/>
                </a:solidFill>
                <a:latin typeface="PingFang SC"/>
                <a:ea typeface="PingFang SC"/>
              </a:rPr>
              <a:t>≈ 2025年报全年 4.86 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343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070"/>
                </a:solidFill>
                <a:latin typeface="PingFang SC"/>
                <a:ea typeface="PingFang SC"/>
              </a:rPr>
              <a:t>兆易创新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净利 14.61亿元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599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7E4"/>
                </a:solidFill>
                <a:latin typeface="PingFang SC"/>
                <a:ea typeface="PingFang SC"/>
              </a:rPr>
              <a:t>同比 +多倍 (2025Q1 基期低)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2064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国产替代量化进展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长鑫存储 (CXMT)：HBM上海封装厂 2026年末投产 → 通富微电 / 雅克科技配套受益。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长江存储 (YMTC)：NAND 全球份额目标 2026 年 15% → 江波龙 / 佰维存储模组放量。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利基龙头 (兆易创新)：DDR4 / NOR Flash 价升量增窗口贯穿 2026 全年。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5 /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新能源 | 板块概览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子赛道分化显著 · 储能/海风/核电上行 · 光伏筑底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18288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光伏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0B0"/>
                </a:solidFill>
                <a:latin typeface="PingFang SC"/>
                <a:ea typeface="PingFang SC"/>
              </a:rPr>
              <a:t>景气度：筑底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ingFang SC"/>
                <a:ea typeface="PingFang SC"/>
              </a:rPr>
              <a:t>工信部治理细则待落地
组件价格仍弱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417320"/>
            <a:ext cx="2743200" cy="18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508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海风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9202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0B0"/>
                </a:solidFill>
                <a:latin typeface="PingFang SC"/>
                <a:ea typeface="PingFang SC"/>
              </a:rPr>
              <a:t>景气度：上行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258568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ingFang SC"/>
                <a:ea typeface="PingFang SC"/>
              </a:rPr>
              <a:t>欧洲脱碳 + 十五五规划
海缆/塔筒紧缺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1417320"/>
            <a:ext cx="2743200" cy="1828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508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储能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19202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0B0"/>
                </a:solidFill>
                <a:latin typeface="PingFang SC"/>
                <a:ea typeface="PingFang SC"/>
              </a:rPr>
              <a:t>景气度：爆发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258568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ingFang SC"/>
                <a:ea typeface="PingFang SC"/>
              </a:rPr>
              <a:t>AIDC储能 = 新刚需
宁德2026Q1储能出货+108%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417320"/>
            <a:ext cx="2743200" cy="18288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508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核电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9202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0B0"/>
                </a:solidFill>
                <a:latin typeface="PingFang SC"/>
                <a:ea typeface="PingFang SC"/>
              </a:rPr>
              <a:t>景气度：稳健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258568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ingFang SC"/>
                <a:ea typeface="PingFang SC"/>
              </a:rPr>
              <a:t>新一轮核准10+机组
PB分位低、利率敏感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52044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PingFang SC"/>
                <a:ea typeface="PingFang SC"/>
              </a:rPr>
              <a:t>与AI算力的关联点 | AIDC 储能 — 锂电链二次增长曲线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11365992" cy="141732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04040"/>
                </a:solidFill>
                <a:latin typeface="PingFang SC"/>
                <a:ea typeface="PingFang SC"/>
              </a:rPr>
              <a:t>• AIDC耗电激增 → AI数据中心配套储能/UPS备电需求井喷，587Ah大电芯成为新刚需。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04040"/>
                </a:solidFill>
                <a:latin typeface="PingFang SC"/>
                <a:ea typeface="PingFang SC"/>
              </a:rPr>
              <a:t>• 宁德时代 2026Q1 储能出货同比 +108%；阳光电源储能PCS海外份额提升。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04040"/>
                </a:solidFill>
                <a:latin typeface="PingFang SC"/>
                <a:ea typeface="PingFang SC"/>
              </a:rPr>
              <a:t>• 绿电匹配 → AIDC对绿电采购需求提升，三峡能源 / 中国核电资产价值重估。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532120"/>
            <a:ext cx="11365992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BD7E4"/>
                </a:solidFill>
                <a:latin typeface="PingFang SC"/>
                <a:ea typeface="PingFang SC"/>
              </a:rPr>
              <a:t>申万电池 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33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≈ 30x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1996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0B0"/>
                </a:solidFill>
                <a:latin typeface="PingFang SC"/>
                <a:ea typeface="PingFang SC"/>
              </a:rPr>
              <a:t>估值合理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5778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BD7E4"/>
                </a:solidFill>
                <a:latin typeface="PingFang SC"/>
                <a:ea typeface="PingFang SC"/>
              </a:rPr>
              <a:t>光伏指数分位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833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≈ -30%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1996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0B0"/>
                </a:solidFill>
                <a:latin typeface="PingFang SC"/>
                <a:ea typeface="PingFang SC"/>
              </a:rPr>
              <a:t>深度筑底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5778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BD7E4"/>
                </a:solidFill>
                <a:latin typeface="PingFang SC"/>
                <a:ea typeface="PingFang SC"/>
              </a:rPr>
              <a:t>三峡能源 PB 分位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833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13%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61996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0B0"/>
                </a:solidFill>
                <a:latin typeface="PingFang SC"/>
                <a:ea typeface="PingFang SC"/>
              </a:rPr>
              <a:t>利率敏感α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5778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BD7E4"/>
                </a:solidFill>
                <a:latin typeface="PingFang SC"/>
                <a:ea typeface="PingFang SC"/>
              </a:rPr>
              <a:t>中国核电 PB 分位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83387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61996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E0B0"/>
                </a:solidFill>
                <a:latin typeface="PingFang SC"/>
                <a:ea typeface="PingFang SC"/>
              </a:rPr>
              <a:t>防御+成长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6 / 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组合总览 | Portfolio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三层结构：核心(55%) + 弹性(30%) + ETF基底(15%)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1732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PingFang SC"/>
                <a:ea typeface="PingFang SC"/>
              </a:rPr>
              <a:t>三层结构 | 仓位拆解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920240"/>
            <a:ext cx="3243834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95994" y="1920240"/>
            <a:ext cx="1769364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65358" y="1920240"/>
            <a:ext cx="884682" cy="50292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965960"/>
            <a:ext cx="32438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核心 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5994" y="1965960"/>
            <a:ext cx="17693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弹性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358" y="1965960"/>
            <a:ext cx="884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ETF 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743200"/>
            <a:ext cx="13716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77977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核心仓位 (55%)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07238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业绩确定性高 + 估值合理  ·  6只主力配置标的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611880"/>
            <a:ext cx="13716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64845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弹性仓位 (30%)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94106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高Beta + 主题催化驱动  ·  6只成长/弹性标的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480560"/>
            <a:ext cx="137160" cy="73152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51713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ETF基底 (15%)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80974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流动性、分散、再平衡工具  ·  4只板块ETF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440680"/>
            <a:ext cx="11365992" cy="96012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532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PingFang SC"/>
                <a:ea typeface="PingFang SC"/>
              </a:rPr>
              <a:t>中性预期收益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52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PingFang SC"/>
                <a:ea typeface="PingFang SC"/>
              </a:rPr>
              <a:t>+18 ~ +25%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532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PingFang SC"/>
                <a:ea typeface="PingFang SC"/>
              </a:rPr>
              <a:t>最大单一持仓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852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PingFang SC"/>
                <a:ea typeface="PingFang SC"/>
              </a:rPr>
              <a:t>15% (工业富联)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532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PingFang SC"/>
                <a:ea typeface="PingFang SC"/>
              </a:rPr>
              <a:t>前 10 集中度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852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PingFang SC"/>
                <a:ea typeface="PingFang SC"/>
              </a:rPr>
              <a:t>≈ 77%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5321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PingFang SC"/>
                <a:ea typeface="PingFang SC"/>
              </a:rPr>
              <a:t>组合 β 加权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852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PingFang SC"/>
                <a:ea typeface="PingFang SC"/>
              </a:rPr>
              <a:t>≈ 1.10 vs HS300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7 /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核心仓位 | 55% 权重 · 6只主力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业绩确定性高 + 估值相对合理 + 6–12月目标空间清晰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136598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218"/>
                <a:gridCol w="1515465"/>
                <a:gridCol w="1515465"/>
                <a:gridCol w="757732"/>
                <a:gridCol w="1515465"/>
                <a:gridCol w="4654644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代码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名称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板块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权重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6–12月目标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一句话推荐理由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601138.SH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工业富联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+13 ~ +21%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A股唯一万亿规模AI算力龙头；NV订单；PE_TTM 31x估值合理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300750.SZ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宁德时代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新能源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+25 ~ +35%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2026Q1出货+67% / 储能+108%；AIDC储能 + 海外渗透双驱动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002463.SZ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沪电股份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+15 ~ +25%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AI高端PCB业绩兑现最高 (2026Q1净利+63%)；产能扩张激进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688008.SH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澜起科技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AI算力/存储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+35 ~ +50%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内存接口芯片全球龙头；DDR5渗透+AI算力卡位最纯正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603986.SH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兆易创新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半导体存储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+25 ~ +40%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A股利基存储基本盘最稳中军；2026Q1净利14.61亿(同比+多倍)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601985.SH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中国核电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新能源(防御)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7%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+14 ~ +17%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PB分位15%、股息+长期成长；利率敏感α 与组合分散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943600"/>
            <a:ext cx="113659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016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核心仓位特征：业绩兑现已实证 · PE分位偏低 · 6只标的板块均匀分布 (AI算力 31% / 存储 15% / 新能源 17%)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弹性仓位 | 30% 权重 · 6只高Beta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高弹性 · 主题催化 · 严控估值容错率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136599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749"/>
                <a:gridCol w="1420749"/>
                <a:gridCol w="1639325"/>
                <a:gridCol w="765018"/>
                <a:gridCol w="1748614"/>
                <a:gridCol w="4371535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代码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名称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板块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权重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6–12月目标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推荐理由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688525.SH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佰维存储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半导体存储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+40 ~ +80%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本轮周期业绩弹性最大；2026Q1净利28.99亿 (≈2025年报全年3.4倍)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300308.SZ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中际旭创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+10 ~ +15% (乐观+37%)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1.6T光模块全球独家量产；锁NV 80%份额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688041.SH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海光信息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AI算力(国产)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+9 ~ +20%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国产CPU+DCU双轮；2026Q1营收+68%；政策催化最强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002837.SZ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英维克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AI算力(液冷)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+15 ~ +30%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液冷0→1爆发；进入NV / 谷歌供应链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603606.SH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东方电缆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新能源(海风)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+30 ~ +45%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海风装机翻倍受益；PE分位仅21%；海缆紧缺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002487.SZ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大金重工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新能源(海风)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+15 ~ +25%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海风塔筒龙头；2025年报前三季归母+215%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943600"/>
            <a:ext cx="11365992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016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弹性仓位策略：单一标的 ≤ 6%；触发条件达成即止盈减半；估值过高时优先调出。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ETF 基底 | 15% 权重 · 4只板块ETF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流动性缓冲 · 分散 · 再平衡工具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136599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908"/>
                <a:gridCol w="2273198"/>
                <a:gridCol w="826617"/>
                <a:gridCol w="3616452"/>
                <a:gridCol w="309981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代码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ETF名称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权重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板块β / 作用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近期数据 (2026/05/12)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159363.SZ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算力ETF基金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AI算力主线β工具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YTD +34%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588200.SH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科创芯片ETF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国产链 + 存储 + AI芯片综合β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YTD +41% / 流动性最佳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159611.SZ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电力ETF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防御性 + 利率敏感 + 红利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PB分位低、股息稳健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159755.SZ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电池ETF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锂电链β工具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日成交 112 亿元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937760"/>
            <a:ext cx="3657600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10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流动性缓冲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回调时加仓窗口；满足组合再平衡的流动性需求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4937760"/>
            <a:ext cx="3657600" cy="13716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510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板块分散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55321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覆盖单一标的失效场景；行业β的低成本替代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4937760"/>
            <a:ext cx="3657600" cy="13716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102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再平衡工具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55321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</a:rPr>
              <a:t>对冲事件冲击 (capex拐点/地缘) 时的弹性调仓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10 /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工业富联 (601138.SH) | AI算力 · 海外链核心 · 核心仓位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重点标的深度 · 业务结构 · 财务亮点 · 推荐逻辑 · 目标空间 · 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★ 工业富联 | AI算力 · 海外链核心 · 核心仓位 15% | 推荐定位：核心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90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E0B0"/>
                </a:solidFill>
                <a:latin typeface="PingFang SC"/>
                <a:ea typeface="PingFang SC"/>
              </a:rPr>
              <a:t>目标空间 +13% ~ +21%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业务结构 | Business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云计算业务：AI服务器代工，主供英伟达/CSP订单。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通信网络设备：交换机、路由器，AI网络配套。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工业互联网/精密制造：传统业务，提供稳定现金流。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AI服务器贡献增量营收占比持续提升至 50%+。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财务亮点 | Financials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2025年报：营收同比加速，净利 352.86 亿元 (+52%)。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2026Q1：净利 105.95 亿元，同比 +102.6%；营收 +56.5%。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31x (2026/05/12)，估值显著低于AI算力同业均值。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毛利率 / ROE 双升通道，AI业务驱动结构改善。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推荐逻辑 | Investment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A股唯一万亿规模、有NV订单、PE&lt;35x 的AI算力龙头。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北美CSP 2026 capex 指引 +77% → 全年订单可见度高。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国产AI服务器 + 海外GB200 / GB300双轮拉动。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目标空间 +13% ~ +21%；建议核心仓位 15%。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风险点 | Key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北美CSP 2027 capex 指引下修风险 (2026Q4验证)。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突破 40x 时触发减仓信号。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美国出口管制升级 (Blackwell / Rubin 扩大禁售)。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代工业务毛利率结构性偏低限制估值上限。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11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沪电股份 (002463.SZ) | AI算力 · PCB高弹性 · 核心仓位 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重点标的深度 · 业务结构 · 财务亮点 · 推荐逻辑 · 目标空间 · 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★ 沪电股份 | AI算力 · PCB高弹性 · 核心仓位 8% | 推荐定位：核心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90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E0B0"/>
                </a:solidFill>
                <a:latin typeface="PingFang SC"/>
                <a:ea typeface="PingFang SC"/>
              </a:rPr>
              <a:t>目标空间 +15% ~ +25%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业务结构 | Business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AI高端PCB (Blackwell GB200 / GB300 主板) 全球核心供应。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通信PCB (5G / 800G / 1.6T光模块)、汽车PCB。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黄石新厂 + 泰国基地，2026 产能集中释放。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财务亮点 | Financials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2026Q1 净利同比 +63%，毛利率结构性提升。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2025年报：营收/利润高增，AI业务占比快速提升。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≈ 40x (2026/05/12)，弹性与确定性兼备。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推荐逻辑 | Investment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AI高端PCB业绩兑现度最高、产能扩张最激进。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1.6T光模块 + GB300 双轮拉动 2026 全年订单。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黄石二期 2026H2 释放，2027 营收弹性进一步打开。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目标空间 +15% ~ +25%；核心仓位 8%。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风险点 | Key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PCB行业 2026H2 新产能集中释放，竞争加剧。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硅光替代节奏影响高速PCB需求结构。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海外客户集中度高，地缘风险敏感。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12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澜起科技 (688008.SH) | AI算力 / 存储交集 · 核心仓位 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重点标的深度 · 业务结构 · 财务亮点 · 推荐逻辑 · 目标空间 · 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★ 澜起科技 | AI算力 / 存储交集 · 核心仓位 8% | 推荐定位：核心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90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E0B0"/>
                </a:solidFill>
                <a:latin typeface="PingFang SC"/>
                <a:ea typeface="PingFang SC"/>
              </a:rPr>
              <a:t>目标空间 +35% ~ +50%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业务结构 | Business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内存接口芯片：DDR5 RCD / DB 全球龙头，受DDR5渗透率提升驱动。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PCIe Retimer / MRDIMM / MXC：AI服务器内存子系统关键芯片。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津逮CPU：国产服务器CPU补充业务。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财务亮点 | Financials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2025年报 / 2026Q1：受益DDR5渗透加速 + AI服务器内存通道扩张。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毛利率高 (60%+)、ROE 提升，财务质量行业领先。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估值 PE_TTM 较高，但与全球可比公司 (Renesas / Rambus) 相比合理。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推荐逻辑 | Investment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AI内存子系统卡位最纯正：DDR5 / MRDIMM / CXL 三线增长。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全球内存接口芯片市占率领先、 NV 平台标配。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国产AI服务器 + 海外CSP 双线受益，HBM4 配套预期。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目标空间 +35% ~ +50%；核心仓位 8%。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风险点 | Key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DDR5 渗透节奏不及预期。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CXL / MXC 商业化进度低于市场预期。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估值已部分定价 HBM4 配套，业绩不及预期容错率低。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13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宁德时代 (300750.SZ) | 新能源 · 储能+AIDC双驱动 · 核心仓位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重点标的深度 · 业务结构 · 财务亮点 · 推荐逻辑 · 目标空间 · 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★ 宁德时代 | 新能源 · 储能+AIDC双驱动 · 核心仓位 10% | 推荐定位：核心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90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E0B0"/>
                </a:solidFill>
                <a:latin typeface="PingFang SC"/>
                <a:ea typeface="PingFang SC"/>
              </a:rPr>
              <a:t>目标空间 +25% ~ +35%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业务结构 | Business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动力电池：全球份额第一 (≈37%)，新车型迭代加速。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储能电池：587Ah 大电芯，AIDC储能成为新刚需。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海外业务：欧洲 / 北美 / 东南亚 产能落地。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财务亮点 | Financials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2026Q1：出货同比 +67%，储能出货 +108%。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2025年报：营收净利双增长，毛利率受规模效应改善。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较 2024 已显著回落，处于合理估值区间。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推荐逻辑 | Investment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AIDC储能 = 锂电链二次增长曲线，与AI算力共振。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全球动力电池龙头地位稳固，定价权回归。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海外渗透 + 储能爆发 双驱动 2026 业绩。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目标空间 +25% ~ +35%；核心仓位 10%。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风险点 | Key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碳酸锂 2026H2 '倒V' 风险 → 短期价格扰动。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&gt; 32x 时触发减仓信号。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港股IPO / 汇率压力影响节奏。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海外产能爬坡不及预期。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14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佰维存储 (688525.SH) | 半导体存储 · 业绩弹性最大 · 弹性仓位 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重点标的深度 · 业务结构 · 财务亮点 · 推荐逻辑 · 目标空间 · 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0292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★ 佰维存储 | 半导体存储 · 业绩弹性最大 · 弹性仓位 6% | 推荐定位：弹性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904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FFE0B0"/>
                </a:solidFill>
                <a:latin typeface="PingFang SC"/>
                <a:ea typeface="PingFang SC"/>
              </a:rPr>
              <a:t>目标空间 +40% ~ +80%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业务结构 | Business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嵌入式存储模组 (eMMC / UFS) 国产替代核心供应商。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SSD / 内存条 / 工业存储：直接受益AI存储紧缺。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长江存储 NAND 国产链关键模组厂。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5740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5740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1226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财务亮点 | Financials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2026Q1 净利 28.99 亿元 ≈ 2025年报全年 8.53 亿元的 3.4 倍。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毛利率 2026Q1 同比大幅提升；价升量增窗口贯穿全年。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PE_TTM 高位 (&gt;80x)，需以业绩兑现验证。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推荐逻辑 | Investment 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本轮存储周期A股业绩弹性最大标的之一。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三大原厂95%先进产能转HBM/eSSD → 模组厂直接受益。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长江存储国产替代加速 → NAND模组放量。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目标空间 +40% ~ +80%；弹性仓位 6%。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251960"/>
            <a:ext cx="555040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51960"/>
            <a:ext cx="55504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306824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风险点 | Key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518464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存储周期 2026Q4–2027Q1 见顶风险 (核心)。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单月涨幅 &gt; 60% 触发止盈 30% 信号。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模组厂库存价格双杀风险。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估值容错率低，业绩不及预期回撤幅度大。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15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三大跨板块投资主线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AIDC 一体化 · 国产替代加速 · 海风+储能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37160" cy="1508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主线 1 | AIDC 一体化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AI模型训练 → GPU/服务器 → HBM/eSSD → 电力/储能/液冷/PCB → 数据中心机柜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7040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上游算力：工业富联 / 中际旭创 / 沪电股份 / 海光信息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中游存储：兆易创新 / 澜起科技 / 佰维存储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下游基建：英维克 (液冷) / 宁德 (AIDC储能) / 阳光电源 (PCS)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组合启示：AIDC全产业链组合覆盖率 70%+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44952"/>
            <a:ext cx="137160" cy="15087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主线 2 | 国产替代加速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H20 / H200 政策反复 → 国产AI芯片清出订单空间 → 长鑫/长江/华为生态受益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90672"/>
            <a:ext cx="7040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长鑫HBM上海封装厂 2026年末投产 → 通富微电 / 雅克科技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华为昇腾910D (5nm/FP8) 2026Q2–Q3 量产 → 中科曙光 / 紫光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长江存储NAND全球份额 2026 目标 15% → 江波龙 / 佰维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节奏关键：2026 H2 政策窗口 + 产能爬坡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672584"/>
            <a:ext cx="137160" cy="15087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18304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主线 3 | 海风+储能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56632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欧洲脱碳 + 中国十五五海风 → 海缆/塔筒紧缺 → AIDC储能反哺锂电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18304"/>
            <a:ext cx="7040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东方电缆 / 大金重工 / 金风科技 / 阳光电源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AIDC耗电激增 → 绿电匹配 → 三峡能源 / 中国核电资产重估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2026Q2 海风招标 &gt; 15GW 即触发加仓信号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组合中海风+储能权重合计 ≈ 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16 /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6–12 月催化剂日历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关键事件时间轴 · 三板块联动观察窗口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11365992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21408"/>
            <a:ext cx="411480" cy="411480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PingFang SC"/>
                <a:ea typeface="PingFang SC"/>
              </a:rPr>
              <a:t>2026年 5–6月
短期窗口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926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工信部光伏治理细则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NVIDIA FY26Q1 财报 (5月下旬)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MSFT/GOOG/META/AMZN 中期capex指引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TrendForce 2026Q2 合约价确认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121408"/>
            <a:ext cx="411480" cy="411480"/>
          </a:xfrm>
          <a:prstGeom prst="ellipse">
            <a:avLst/>
          </a:prstGeom>
          <a:solidFill>
            <a:srgbClr val="4F81B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F81BD"/>
                </a:solidFill>
                <a:latin typeface="PingFang SC"/>
                <a:ea typeface="PingFang SC"/>
              </a:rPr>
              <a:t>2026年 7–8月
关键验证窗口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926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北美CSP Q2 财报 capex 节奏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A股 2026 半年报披露季 (三板块全验证)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十五五风电规划细则 / 海风专项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长鑫HBM上海封装厂试产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121408"/>
            <a:ext cx="411480" cy="411480"/>
          </a:xfrm>
          <a:prstGeom prst="ellipse">
            <a:avLst/>
          </a:prstGeom>
          <a:solidFill>
            <a:srgbClr val="ED7D3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D7D31"/>
                </a:solidFill>
                <a:latin typeface="PingFang SC"/>
                <a:ea typeface="PingFang SC"/>
              </a:rPr>
              <a:t>2026年 9–10月
重要节点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926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NVIDIA Vera Rubin 平台发布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华为全联接大会 → 950PR 进展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北京风能展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新一轮核电核准 (10+ 台机组)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2121408"/>
            <a:ext cx="411480" cy="411480"/>
          </a:xfrm>
          <a:prstGeom prst="ellipse">
            <a:avLst/>
          </a:prstGeom>
          <a:solidFill>
            <a:srgbClr val="C0504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173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504D"/>
                </a:solidFill>
                <a:latin typeface="PingFang SC"/>
                <a:ea typeface="PingFang SC"/>
              </a:rPr>
              <a:t>2026 Q4
决定性窗口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743200"/>
            <a:ext cx="2926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北美CSP 2027 capex 指引 (核心)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A股 2026 Q3 报披露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H200 政策最终落地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04040"/>
                </a:solidFill>
                <a:latin typeface="PingFang SC"/>
                <a:ea typeface="PingFang SC"/>
              </a:rPr>
              <a:t>• 央国企组件年度集采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11365992" cy="50292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1675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F4E79"/>
                </a:solidFill>
                <a:latin typeface="PingFang SC"/>
                <a:ea typeface="PingFang SC"/>
              </a:rPr>
              <a:t>视角延伸 (2027 Q1)：HBM4 量产 · 十五五AI算力规划 · 昇腾910D全面量产 · AIDC储能587Ah放量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17 /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主要风险与对冲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共同尾部风险 + 板块特定风险 + 对冲工具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PingFang SC"/>
                <a:ea typeface="PingFang SC"/>
              </a:rPr>
              <a:t>共同尾部风险 (三板块同时暴露)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828800"/>
          <a:ext cx="113659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5830"/>
                <a:gridCol w="947166"/>
                <a:gridCol w="947166"/>
                <a:gridCol w="473583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风险事件</a:t>
                      </a:r>
                    </a:p>
                  </a:txBody>
                  <a:tcPr marL="45720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概率</a:t>
                      </a:r>
                    </a:p>
                  </a:txBody>
                  <a:tcPr marL="45720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影响</a:t>
                      </a:r>
                    </a:p>
                  </a:txBody>
                  <a:tcPr marL="45720" marR="45720" marT="18288" marB="18288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主要暴露板块</a:t>
                      </a:r>
                    </a:p>
                  </a:txBody>
                  <a:tcPr marL="45720" marR="45720" marT="18288" marB="18288" anchor="ctr">
                    <a:solidFill>
                      <a:srgbClr val="C050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北美CSP 2027 capex 增速从+77%降至&lt;+30%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AI算力(高) · 存储(中-高) · 储能(低)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美国出口管制升级 (Blackwell/Rubin 扩大禁售)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中低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AI算力(高) · 存储(中) · 新能源(低)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A股流动性收紧 / 10年期国债 &gt; 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高估值标的 (国产链/存储)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地缘冲突 / 台海局势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极高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全板块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79476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板块特定风险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206240"/>
            <a:ext cx="3721608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61104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AI算力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572000"/>
            <a:ext cx="37216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33558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估值已部分透支 (国产链 PE 200–300x)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PCB 2026H2 新产能集中释放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硅光替代节奏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206240"/>
            <a:ext cx="3721608" cy="3657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61104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半导体存储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572000"/>
            <a:ext cx="37216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663440"/>
            <a:ext cx="33558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周期 2026Q4–2027Q1 提前见顶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模组厂库存价格双杀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估值容错率低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4206240"/>
            <a:ext cx="3721608" cy="3657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261104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新能源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4572000"/>
            <a:ext cx="37216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663440"/>
            <a:ext cx="33558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碳酸锂 2026H2 '倒V' 风险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光伏治理执行不及预期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电价改革进一步让利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18 /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动态再平衡触发器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8 条核心触发条件 · 信号驱动调仓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1136599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138"/>
                <a:gridCol w="5851797"/>
                <a:gridCol w="5064055"/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触发事件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调仓动作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北美CSP 2026Q3 财报 capex 指引下修 &gt; 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AI算力减仓 5%，转入新能源 / 防御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工业富联 PE_TTM &gt; 40x (当前 31x)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减半工业富联，转入英维克 / 科创芯片ETF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中际旭创出现 &gt; 30% 回调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加仓 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碳酸锂跌破 10 万元/吨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加仓宁德时代 + 电池ETF 合计 5%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长鑫HBM 封装厂超预期投产公告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新建仓通富微电 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寒武纪 / 海光 PE 回落至 150x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加仓 3%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海风 2026Q2 招标量 &gt; 15GW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加仓东方电缆 + 大金重工 合计 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A股科创50 单月跌幅 &gt; 10%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04040"/>
                          </a:solidFill>
                          <a:latin typeface="PingFang SC"/>
                          <a:ea typeface="PingFang SC"/>
                        </a:rPr>
                        <a:t>ETF 基底加仓 5% (科创芯片ETF)</a:t>
                      </a:r>
                    </a:p>
                  </a:txBody>
                  <a:tcPr marL="54864" marR="54864" marT="18288" marB="18288" anchor="ctr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760720"/>
            <a:ext cx="11365992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E0B0"/>
                </a:solidFill>
                <a:latin typeface="PingFang SC"/>
                <a:ea typeface="PingFang SC"/>
              </a:rPr>
              <a:t>整体组合警戒线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990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回撤 &gt; 10% → 减半弹性仓位   ·   &gt; 15% → 仅保留核心+ETF   ·   &gt; 20% → 全清个股、保留ETF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19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12 个月组合操作路线图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建仓 → 验证 → 决断 → 再平衡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阶段一 | 建仓期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2026年 5–6月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945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23774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按推荐权重建仓核心仓位 (55%)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弹性仓位分批 (留 30% 等回调)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ETF基底先建一半 (7.5%)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观察：NV 5月底财报 + CSP 6月capex 指引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743200" cy="7772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阶段二 | 验证期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2026年 7–9月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1945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23774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半年报披露密集期，逐一验证业绩兑现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加仓信号：工业富联+沪电 H1 净利 &gt; +50%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减仓信号：佰维 Q2 环比放缓 &gt; 20%、毛利率回落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对佰维 / 英维克 / 海光 严控仓位上限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417320"/>
            <a:ext cx="2743200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阶段三 | 决断期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2026年 10–12月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1945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3774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最关键 6 周窗口：CSP 2027 capex 指引 + H200 政策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如 capex 超预期：弹性仓位上调至 35%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如 capex 拐点确认：AI算力降至 35%，加仓电力ETF / 中核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Q3 报披露确认全年业绩兑现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2743200" cy="7772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阶段四 | 再平衡期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783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E0B0"/>
                </a:solidFill>
                <a:latin typeface="PingFang SC"/>
                <a:ea typeface="PingFang SC"/>
              </a:rPr>
              <a:t>2027年 1–4月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1945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331720"/>
            <a:ext cx="23774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HBM4 量产 + 国产替代第二轮验证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评估存储仓位 21% → 25%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评估新能源板块分化是否收敛 (光伏拐点 / 海风兑现)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04040"/>
                </a:solidFill>
                <a:latin typeface="PingFang SC"/>
                <a:ea typeface="PingFang SC"/>
              </a:rPr>
              <a:t>• 全面再平衡组合，制定下一周期策略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20 /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总结与立场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中长期 6–12月 · 进攻为骨 · 结构防御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E0B0"/>
                </a:solidFill>
                <a:latin typeface="PingFang SC"/>
                <a:ea typeface="PingFang SC"/>
              </a:rPr>
              <a:t>核心立场 | Core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</a:rPr>
              <a:t>AI算力为骨 · 存储为肉 · 新能源为对冲与第二增长曲线 — 三者通过 AI数据中心 capex + 国产替代 两条共同主线相互强化。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7180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PingFang SC"/>
                <a:ea typeface="PingFang SC"/>
              </a:rPr>
              <a:t>适用对象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337560"/>
            <a:ext cx="731520" cy="132588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40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适用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2900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6–12 个月中长期投资者，能承受 20% 以内回撤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对产业趋势有信心、能容忍短期波动的成长型投资者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已对 AI / 半导体 / 新能源板块有基础认知的投资者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754880"/>
            <a:ext cx="731520" cy="132588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257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不适用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短期事件驱动型交易者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完全规避高估值的纯价值/红利投资者 (请采用稳健型组合)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对单一板块过度集中风险偏好者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217920"/>
            <a:ext cx="11365992" cy="27432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E79"/>
                </a:solidFill>
                <a:latin typeface="PingFang SC"/>
                <a:ea typeface="PingFang SC"/>
              </a:rPr>
              <a:t>数据时点：2026/05/12 收盘 (Tushare) · 财务数据严格区分 2025年报 与 2026Q1 · 报告完稿 2026/05/13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21 /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PingFang SC"/>
                <a:ea typeface="PingFang SC"/>
              </a:rPr>
              <a:t>免责声明 |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PingFang SC"/>
                <a:ea typeface="PingFang SC"/>
              </a:rPr>
              <a:t>本报告不构成具体投资建议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13659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本报告由 ashare-sectors-2026 研究团队基于公开数据与产业判断撰写，所有结论仅代表研究团队意见，不构成具体投资建议。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本报告中涉及的数据来源包括 Tushare (基准日 2026/05/12)、公司公告、行业研究报告及公开新闻；TaskList #1–4 工作流详见 reports/synthesis.md。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本报告中所述 2025 年数据均为 FY2025 年报披露口径，2026Q1 数据为单季度披露 (对照基期 2025Q1)；估值/价格按 2026/05/12 收盘；TTM 财务按 2025Q2 + Q3 + Q4 + 2026Q1 滚动。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北美 CSP capex 数据：2025 年实际 4,100 亿美元 / 2026 年指引 7,250 亿美元，两个数字属于不同年份，请勿混用。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市场存在系统性风险与不可预测的尾部事件 (地缘冲突、政策反复、流动性紧缩、产业拐点等)；个股投资存在公司治理、行业竞争、产能爬坡等多重风险。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本报告中的目标空间、预期收益等前瞻性表述仅为基于现有信息的合理推断，实际表现可能与之存在显著差异。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投资有风险，决策需谨慎。请投资者结合自身风险承受能力与资产配置目标，独立做出投资决策。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04040"/>
                </a:solidFill>
                <a:latin typeface="PingFang SC"/>
                <a:ea typeface="PingFang SC"/>
              </a:rPr>
              <a:t>• 本报告仅供内部研究讨论使用，未经允许不得对外分发、复制或引用。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研究团队：ashare-sectors-2026  ·  发布日期：2026年5月13日  ·  组合代号：Portfolio Roadshow · 2026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2026年5月  |  中长期组合策略  |  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PingFang SC"/>
                <a:ea typeface="PingFang SC"/>
              </a:rPr>
              <a:t>数据来源: Tushare (2026/05/12) / 公司公告 / 行业研究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